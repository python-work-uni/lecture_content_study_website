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7"/>
  </p:notesMasterIdLst>
  <p:sldIdLst>
    <p:sldId id="257" r:id="rId2"/>
    <p:sldId id="256" r:id="rId3"/>
    <p:sldId id="280" r:id="rId4"/>
    <p:sldId id="278" r:id="rId5"/>
    <p:sldId id="286" r:id="rId6"/>
    <p:sldId id="287" r:id="rId7"/>
    <p:sldId id="285" r:id="rId8"/>
    <p:sldId id="289" r:id="rId9"/>
    <p:sldId id="288" r:id="rId10"/>
    <p:sldId id="290" r:id="rId11"/>
    <p:sldId id="284" r:id="rId12"/>
    <p:sldId id="281" r:id="rId13"/>
    <p:sldId id="279" r:id="rId14"/>
    <p:sldId id="283" r:id="rId15"/>
    <p:sldId id="276" r:id="rId16"/>
  </p:sldIdLst>
  <p:sldSz cx="9144000" cy="5143500" type="screen16x9"/>
  <p:notesSz cx="6858000" cy="9144000"/>
  <p:embeddedFontLst>
    <p:embeddedFont>
      <p:font typeface="Merriweather Sans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EF9CB9-D537-4C72-9C7E-E72BC9FBC848}">
  <a:tblStyle styleId="{1EEF9CB9-D537-4C72-9C7E-E72BC9FBC8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1"/>
    <p:restoredTop sz="90406"/>
  </p:normalViewPr>
  <p:slideViewPr>
    <p:cSldViewPr snapToGrid="0">
      <p:cViewPr varScale="1">
        <p:scale>
          <a:sx n="171" d="100"/>
          <a:sy n="171" d="100"/>
        </p:scale>
        <p:origin x="66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6b61c21d69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16b61c21d69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6b61c21d69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6b61c21d69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523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DA11DFC8-8EC7-09CC-A597-A2F5DF40B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6b61c21d69_0_143:notes">
            <a:extLst>
              <a:ext uri="{FF2B5EF4-FFF2-40B4-BE49-F238E27FC236}">
                <a16:creationId xmlns:a16="http://schemas.microsoft.com/office/drawing/2014/main" id="{6F7C0914-2A7D-DD5C-2A3D-0237BF5359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6b61c21d69_0_143:notes">
            <a:extLst>
              <a:ext uri="{FF2B5EF4-FFF2-40B4-BE49-F238E27FC236}">
                <a16:creationId xmlns:a16="http://schemas.microsoft.com/office/drawing/2014/main" id="{AC0941E8-2E0D-4DAB-BF23-99FC89EBF4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3330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864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8054B7F5-4DBE-E5C7-2BC4-ECD5B93C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6b61c21d69_0_143:notes">
            <a:extLst>
              <a:ext uri="{FF2B5EF4-FFF2-40B4-BE49-F238E27FC236}">
                <a16:creationId xmlns:a16="http://schemas.microsoft.com/office/drawing/2014/main" id="{629321B2-312F-49DB-FC44-008315BBF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6b61c21d69_0_143:notes">
            <a:extLst>
              <a:ext uri="{FF2B5EF4-FFF2-40B4-BE49-F238E27FC236}">
                <a16:creationId xmlns:a16="http://schemas.microsoft.com/office/drawing/2014/main" id="{021D2B9D-1DE1-36D5-0E69-2AC8167F2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80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434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AU" dirty="0"/>
              <a:t>“Finally, AJAX is not limited to raw JavaScript. Modern frameworks such as React still use Fetch or Axios to send asynchronous requests to a server.</a:t>
            </a:r>
          </a:p>
          <a:p>
            <a:pPr marL="158750" indent="0">
              <a:buNone/>
            </a:pPr>
            <a:r>
              <a:rPr lang="en-AU" dirty="0"/>
              <a:t>The server returns data, usually JSON, and React stores the result as state. When that state changes, React updates the relevant interface automatically.</a:t>
            </a:r>
          </a:p>
          <a:p>
            <a:pPr marL="158750" indent="0">
              <a:buNone/>
            </a:pPr>
            <a:r>
              <a:rPr lang="en-AU" dirty="0"/>
              <a:t>So the AJAX idea remains the same. React simply reduces the amount of manual DOM updating we need to manage.”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27FC6DFE-1D3A-F3CB-3C87-BF7E43F6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6b61c21d69_0_143:notes">
            <a:extLst>
              <a:ext uri="{FF2B5EF4-FFF2-40B4-BE49-F238E27FC236}">
                <a16:creationId xmlns:a16="http://schemas.microsoft.com/office/drawing/2014/main" id="{85FBC2FF-2849-D9B4-BEFF-2557099A0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6b61c21d69_0_143:notes">
            <a:extLst>
              <a:ext uri="{FF2B5EF4-FFF2-40B4-BE49-F238E27FC236}">
                <a16:creationId xmlns:a16="http://schemas.microsoft.com/office/drawing/2014/main" id="{D44CF31E-7D43-25F3-C11B-CDEFBA159E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7916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60E92301-BADE-56FD-5A4A-907A593FF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6b61c21d69_0_143:notes">
            <a:extLst>
              <a:ext uri="{FF2B5EF4-FFF2-40B4-BE49-F238E27FC236}">
                <a16:creationId xmlns:a16="http://schemas.microsoft.com/office/drawing/2014/main" id="{49D8CFB8-317A-01F3-B632-C9460E779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6b61c21d69_0_143:notes">
            <a:extLst>
              <a:ext uri="{FF2B5EF4-FFF2-40B4-BE49-F238E27FC236}">
                <a16:creationId xmlns:a16="http://schemas.microsoft.com/office/drawing/2014/main" id="{48983AC4-81DA-01C2-6A08-F976D68A6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5446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6b61c21d69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6b61c21d69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– Red option 2">
  <p:cSld name="Title slide – Red option 2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PT Template background file_Red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1344" y="0"/>
            <a:ext cx="3436200" cy="5154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" name="Google Shape;13;p2" descr="269F7152-Edit.jpg"/>
          <p:cNvPicPr preferRelativeResize="0"/>
          <p:nvPr/>
        </p:nvPicPr>
        <p:blipFill rotWithShape="1">
          <a:blip r:embed="rId5">
            <a:alphaModFix/>
          </a:blip>
          <a:srcRect l="28074" r="27248"/>
          <a:stretch/>
        </p:blipFill>
        <p:spPr>
          <a:xfrm>
            <a:off x="4571344" y="-1"/>
            <a:ext cx="4581600" cy="515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366941" y="2520726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250824" y="1329929"/>
            <a:ext cx="86631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1pPr>
            <a:lvl2pPr marL="914400" lvl="1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2pPr>
            <a:lvl3pPr marL="1371600" lvl="2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250825" y="951310"/>
            <a:ext cx="86631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64575" y="4939904"/>
            <a:ext cx="249300" cy="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50824" y="1329929"/>
            <a:ext cx="86631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1pPr>
            <a:lvl2pPr marL="914400" lvl="1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2pPr>
            <a:lvl3pPr marL="1371600" lvl="2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250825" y="951310"/>
            <a:ext cx="86631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664575" y="4939904"/>
            <a:ext cx="249300" cy="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250824" y="1329929"/>
            <a:ext cx="86631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1pPr>
            <a:lvl2pPr marL="914400" lvl="1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2pPr>
            <a:lvl3pPr marL="1371600" lvl="2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250825" y="951310"/>
            <a:ext cx="86631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664575" y="4939904"/>
            <a:ext cx="249300" cy="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250824" y="1329929"/>
            <a:ext cx="86631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1pPr>
            <a:lvl2pPr marL="914400" lvl="1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2pPr>
            <a:lvl3pPr marL="1371600" lvl="2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250825" y="951310"/>
            <a:ext cx="86631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64575" y="4939904"/>
            <a:ext cx="249300" cy="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50824" y="1329929"/>
            <a:ext cx="86631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1pPr>
            <a:lvl2pPr marL="914400" lvl="1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2pPr>
            <a:lvl3pPr marL="1371600" lvl="2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50825" y="951310"/>
            <a:ext cx="86631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664575" y="4939904"/>
            <a:ext cx="249300" cy="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250824" y="1329929"/>
            <a:ext cx="86631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1pPr>
            <a:lvl2pPr marL="914400" lvl="1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2pPr>
            <a:lvl3pPr marL="1371600" lvl="2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2"/>
          </p:nvPr>
        </p:nvSpPr>
        <p:spPr>
          <a:xfrm>
            <a:off x="250825" y="951310"/>
            <a:ext cx="86631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664575" y="4939904"/>
            <a:ext cx="249300" cy="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– Red option 1 (add own image)">
  <p:cSld name="Title slide – Red option 1 (add own image)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 descr="PPT Template background file_Red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>
            <a:spLocks noGrp="1"/>
          </p:cNvSpPr>
          <p:nvPr>
            <p:ph type="pic" idx="2"/>
          </p:nvPr>
        </p:nvSpPr>
        <p:spPr>
          <a:xfrm>
            <a:off x="4587875" y="0"/>
            <a:ext cx="45561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366941" y="2520726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– Red option 4">
  <p:cSld name="Title slide – Red option 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0" descr="PPT Template background file_Red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5013" y="0"/>
            <a:ext cx="344924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66941" y="2520726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– Red option 4">
  <p:cSld name="1_Title slide – Red option 4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 descr="PPT Template background file_Red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1"/>
          <p:cNvPicPr preferRelativeResize="0"/>
          <p:nvPr/>
        </p:nvPicPr>
        <p:blipFill rotWithShape="1">
          <a:blip r:embed="rId3">
            <a:alphaModFix/>
          </a:blip>
          <a:srcRect l="13059" r="38626"/>
          <a:stretch/>
        </p:blipFill>
        <p:spPr>
          <a:xfrm>
            <a:off x="4546600" y="-6533"/>
            <a:ext cx="4597400" cy="515644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366941" y="2520726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 – Red option 4">
  <p:cSld name="2_Title slide – Red option 4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2" descr="PPT Template background file_Red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2" descr="269F8271-Edit.jpg"/>
          <p:cNvPicPr preferRelativeResize="0"/>
          <p:nvPr/>
        </p:nvPicPr>
        <p:blipFill rotWithShape="1">
          <a:blip r:embed="rId3">
            <a:alphaModFix/>
          </a:blip>
          <a:srcRect l="27099" r="28481"/>
          <a:stretch/>
        </p:blipFill>
        <p:spPr>
          <a:xfrm>
            <a:off x="4546600" y="0"/>
            <a:ext cx="4597400" cy="517395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1"/>
          </p:nvPr>
        </p:nvSpPr>
        <p:spPr>
          <a:xfrm>
            <a:off x="366941" y="2520726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– Red option 5 (no image)">
  <p:cSld name="Title slide – Red option 5 (no image)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 descr="PPT Template background file_Red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xfrm>
            <a:off x="366941" y="2520726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– White option 1 (add own image)">
  <p:cSld name="Title slide – White option 1 (add own image)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4" descr="USY_MB1_PMS_1_Colour_Standard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4429125"/>
            <a:ext cx="1152525" cy="39766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>
            <a:spLocks noGrp="1"/>
          </p:cNvSpPr>
          <p:nvPr>
            <p:ph type="pic" idx="2"/>
          </p:nvPr>
        </p:nvSpPr>
        <p:spPr>
          <a:xfrm>
            <a:off x="4587876" y="313765"/>
            <a:ext cx="4150500" cy="4513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366941" y="2520726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– White option 2">
  <p:cSld name="Title slide – White option 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45025" y="314325"/>
            <a:ext cx="3026568" cy="4512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descr="USY_MB1_PMS_1_Colour_Standard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025" y="4429125"/>
            <a:ext cx="1152525" cy="39766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66941" y="2520726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– White option 3">
  <p:cSld name="Title slide – White option 3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45025" y="314325"/>
            <a:ext cx="3026568" cy="4512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 descr="USY_MB1_PMS_1_Colour_Standard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025" y="4429125"/>
            <a:ext cx="1152525" cy="39766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66941" y="2520726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– White option 4">
  <p:cSld name="Title slide – White option 4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45025" y="314325"/>
            <a:ext cx="3026568" cy="4512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USY_MB1_PMS_1_Colour_Standard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025" y="4429125"/>
            <a:ext cx="1152525" cy="39766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66941" y="2520726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– White option 5 (no image)">
  <p:cSld name="Title slide – White option 5 (no image)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8" descr="USY_MB1_PMS_1_Colour_Standard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4429125"/>
            <a:ext cx="1152525" cy="39766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366941" y="2520726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457200" y="1019175"/>
            <a:ext cx="8229600" cy="3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1pPr>
            <a:lvl2pPr marL="914400" lvl="1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–"/>
              <a:defRPr/>
            </a:lvl2pPr>
            <a:lvl3pPr marL="1371600" lvl="2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ntent " type="twoObj">
  <p:cSld name="TWO_OBJECT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457200" y="101994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2"/>
          </p:nvPr>
        </p:nvSpPr>
        <p:spPr>
          <a:xfrm>
            <a:off x="4648200" y="101994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Image">
  <p:cSld name="Title, Content and Imag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457200" y="4118372"/>
            <a:ext cx="40386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7200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 Sans"/>
              <a:buNone/>
              <a:defRPr sz="1100"/>
            </a:lvl1pPr>
            <a:lvl2pPr marL="914400" lvl="1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marL="1371600" lvl="2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marL="1828800" lvl="3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lvl="4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>
            <a:spLocks noGrp="1"/>
          </p:cNvSpPr>
          <p:nvPr>
            <p:ph type="pic" idx="2"/>
          </p:nvPr>
        </p:nvSpPr>
        <p:spPr>
          <a:xfrm>
            <a:off x="457200" y="1020366"/>
            <a:ext cx="4038600" cy="30978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3"/>
          </p:nvPr>
        </p:nvSpPr>
        <p:spPr>
          <a:xfrm>
            <a:off x="4648200" y="101994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Table">
  <p:cSld name="Title, Content and Tabl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4648200" y="101994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2"/>
          </p:nvPr>
        </p:nvSpPr>
        <p:spPr>
          <a:xfrm>
            <a:off x="457200" y="4118372"/>
            <a:ext cx="40386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7200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 Sans"/>
              <a:buNone/>
              <a:defRPr sz="1100"/>
            </a:lvl1pPr>
            <a:lvl2pPr marL="914400" lvl="1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marL="1371600" lvl="2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marL="1828800" lvl="3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lvl="4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Chart">
  <p:cSld name="Title, Content and Char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>
            <a:spLocks noGrp="1"/>
          </p:cNvSpPr>
          <p:nvPr>
            <p:ph type="chart" idx="2"/>
          </p:nvPr>
        </p:nvSpPr>
        <p:spPr>
          <a:xfrm>
            <a:off x="457200" y="1020366"/>
            <a:ext cx="4038600" cy="30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None/>
              <a:defRPr sz="2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4648200" y="101994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3"/>
          </p:nvPr>
        </p:nvSpPr>
        <p:spPr>
          <a:xfrm>
            <a:off x="457200" y="4118372"/>
            <a:ext cx="40386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7200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 Sans"/>
              <a:buNone/>
              <a:defRPr sz="1100"/>
            </a:lvl1pPr>
            <a:lvl2pPr marL="914400" lvl="1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marL="1371600" lvl="2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marL="1828800" lvl="3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lvl="4" indent="-29845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>
            <a:spLocks noGrp="1"/>
          </p:cNvSpPr>
          <p:nvPr>
            <p:ph type="pic" idx="2"/>
          </p:nvPr>
        </p:nvSpPr>
        <p:spPr>
          <a:xfrm>
            <a:off x="457200" y="1019175"/>
            <a:ext cx="8229600" cy="35754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- Option 1">
  <p:cSld name="Section Divider - Option 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7" descr="USY_MB1_PMS_1_Colour_Reversed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025" y="4429125"/>
            <a:ext cx="1152525" cy="39766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>
            <a:spLocks noGrp="1"/>
          </p:cNvSpPr>
          <p:nvPr>
            <p:ph type="title"/>
          </p:nvPr>
        </p:nvSpPr>
        <p:spPr>
          <a:xfrm>
            <a:off x="381884" y="261226"/>
            <a:ext cx="83886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body" idx="1"/>
          </p:nvPr>
        </p:nvSpPr>
        <p:spPr>
          <a:xfrm>
            <a:off x="382765" y="599515"/>
            <a:ext cx="83877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>
            <a:spLocks noGrp="1"/>
          </p:cNvSpPr>
          <p:nvPr>
            <p:ph type="pic" idx="2"/>
          </p:nvPr>
        </p:nvSpPr>
        <p:spPr>
          <a:xfrm>
            <a:off x="454455" y="1350309"/>
            <a:ext cx="8226600" cy="34767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Divider - Option 2">
  <p:cSld name="1_Section Divider - Op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8" descr="PPT Template background file_Blue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8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body" idx="1"/>
          </p:nvPr>
        </p:nvSpPr>
        <p:spPr>
          <a:xfrm>
            <a:off x="382766" y="1686488"/>
            <a:ext cx="39480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- Option 3">
  <p:cSld name="Section Divider - Option 3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9" descr="PPT Template background file_Yellow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 txBox="1">
            <a:spLocks noGrp="1"/>
          </p:cNvSpPr>
          <p:nvPr>
            <p:ph type="body" idx="1"/>
          </p:nvPr>
        </p:nvSpPr>
        <p:spPr>
          <a:xfrm>
            <a:off x="382766" y="1686488"/>
            <a:ext cx="39480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- Option 4">
  <p:cSld name="Section Divider - Option 4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0" descr="PPT Template background file_Charcoal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0"/>
          <p:cNvSpPr txBox="1">
            <a:spLocks noGrp="1"/>
          </p:cNvSpPr>
          <p:nvPr>
            <p:ph type="title"/>
          </p:nvPr>
        </p:nvSpPr>
        <p:spPr>
          <a:xfrm>
            <a:off x="381884" y="1348199"/>
            <a:ext cx="39489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body" idx="1"/>
          </p:nvPr>
        </p:nvSpPr>
        <p:spPr>
          <a:xfrm>
            <a:off x="382766" y="1686488"/>
            <a:ext cx="39480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tile page ochre - centred text">
  <p:cSld name="1_Ttile page ochre - centred 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E64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59322" y="3881927"/>
            <a:ext cx="1854201" cy="48101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2"/>
          <p:cNvSpPr txBox="1">
            <a:spLocks noGrp="1"/>
          </p:cNvSpPr>
          <p:nvPr>
            <p:ph type="body" idx="1"/>
          </p:nvPr>
        </p:nvSpPr>
        <p:spPr>
          <a:xfrm>
            <a:off x="358775" y="1952626"/>
            <a:ext cx="84264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881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019175"/>
            <a:ext cx="8229600" cy="3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Char char="–"/>
              <a:defRPr sz="2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3810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University of Sydney</a:t>
            </a:r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66294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Page </a:t>
            </a:r>
            <a:fld id="{00000000-1234-1234-1234-123412341234}" type="slidenum">
              <a:rPr lang="en" sz="9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uxnzuH3Xi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dxhawe49/12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svg"/><Relationship Id="rId5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unwiredlearning.com/blog/react-data-fetching" TargetMode="External"/><Relationship Id="rId4" Type="http://schemas.openxmlformats.org/officeDocument/2006/relationships/hyperlink" Target="https://react.dev/learn/thinking-in-react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>
            <a:spLocks noGrp="1"/>
          </p:cNvSpPr>
          <p:nvPr>
            <p:ph type="title"/>
          </p:nvPr>
        </p:nvSpPr>
        <p:spPr>
          <a:xfrm>
            <a:off x="381866" y="1579981"/>
            <a:ext cx="3948900" cy="11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dirty="0"/>
              <a:t>ELEC3609/9609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dirty="0">
                <a:solidFill>
                  <a:schemeClr val="tx1"/>
                </a:solidFill>
              </a:rPr>
              <a:t>Week 4 Lab Guide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65" name="Google Shape;165;p34"/>
          <p:cNvSpPr txBox="1">
            <a:spLocks noGrp="1"/>
          </p:cNvSpPr>
          <p:nvPr>
            <p:ph type="body" idx="4294967295"/>
          </p:nvPr>
        </p:nvSpPr>
        <p:spPr>
          <a:xfrm>
            <a:off x="381866" y="3222507"/>
            <a:ext cx="39639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463"/>
              <a:buNone/>
            </a:pPr>
            <a:r>
              <a:rPr lang="en" sz="1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Presented by</a:t>
            </a:r>
            <a:endParaRPr sz="1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lnSpc>
                <a:spcPct val="8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66463"/>
              <a:buNone/>
            </a:pPr>
            <a:r>
              <a:rPr lang="en-AU" sz="1400" dirty="0"/>
              <a:t>Jiawen Wen</a:t>
            </a:r>
            <a:endParaRPr sz="1400" dirty="0"/>
          </a:p>
          <a:p>
            <a:pPr marL="0" lvl="0" indent="0" algn="l" rtl="0">
              <a:lnSpc>
                <a:spcPct val="8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24390"/>
              <a:buNone/>
            </a:pPr>
            <a:endParaRPr sz="1400" dirty="0"/>
          </a:p>
          <a:p>
            <a:pPr marL="0" lvl="0" indent="0" algn="l" rtl="0">
              <a:lnSpc>
                <a:spcPct val="8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24390"/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>
            <a:spLocks noGrp="1"/>
          </p:cNvSpPr>
          <p:nvPr>
            <p:ph type="body" idx="1"/>
          </p:nvPr>
        </p:nvSpPr>
        <p:spPr>
          <a:xfrm>
            <a:off x="358800" y="1906175"/>
            <a:ext cx="8426400" cy="619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AU" sz="3200" dirty="0"/>
              <a:t>A1 Milestone Reminder</a:t>
            </a:r>
            <a:endParaRPr sz="3200"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33"/>
          <p:cNvSpPr txBox="1"/>
          <p:nvPr/>
        </p:nvSpPr>
        <p:spPr>
          <a:xfrm>
            <a:off x="5666825" y="2927725"/>
            <a:ext cx="302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3312-F9F6-2F55-82E9-28893C16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Assignment 1</a:t>
            </a:r>
            <a:br>
              <a:rPr lang="en" dirty="0"/>
            </a:br>
            <a:r>
              <a:rPr lang="en" sz="1600" dirty="0"/>
              <a:t>Milestone Reminder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72D26-B0E3-8B82-D079-873C143BF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301" y="945506"/>
            <a:ext cx="7609398" cy="3857082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AU" sz="1100" dirty="0"/>
              <a:t>A1 Milestone Submission: </a:t>
            </a:r>
            <a:r>
              <a:rPr lang="en-AU" sz="1100" b="1" dirty="0"/>
              <a:t>02/09/2026, 11:59PM (Wednesday, Week 5)</a:t>
            </a:r>
            <a:r>
              <a:rPr lang="en-AU" sz="1100" dirty="0"/>
              <a:t>. The submission portal on Canvas will open this weekend. This is a group submission, so only one submission is required per group.</a:t>
            </a:r>
          </a:p>
          <a:p>
            <a:pPr marL="76200" indent="0">
              <a:buNone/>
            </a:pPr>
            <a:endParaRPr lang="en-AU" sz="1100" dirty="0"/>
          </a:p>
          <a:p>
            <a:pPr marL="76200" indent="0">
              <a:buNone/>
            </a:pPr>
            <a:r>
              <a:rPr lang="en-AU" sz="1100" b="1" dirty="0"/>
              <a:t>Required PDFs (3 in total):</a:t>
            </a:r>
          </a:p>
          <a:p>
            <a:r>
              <a:rPr lang="en-AU" sz="1100" b="1" dirty="0"/>
              <a:t>1. Group Contract</a:t>
            </a:r>
          </a:p>
          <a:p>
            <a:r>
              <a:rPr lang="en-AU" sz="1100" b="1" dirty="0"/>
              <a:t>2. Presentation Slides</a:t>
            </a:r>
          </a:p>
          <a:p>
            <a:pPr lvl="1"/>
            <a:r>
              <a:rPr lang="en-AU" sz="1100" dirty="0"/>
              <a:t>Introduction; Background (market needs, problems); Idea/Solution; Prototyping (wireframes if possible); Team Introduction; Project Plan (Gantt Chart, frameworks)</a:t>
            </a:r>
          </a:p>
          <a:p>
            <a:pPr lvl="1"/>
            <a:r>
              <a:rPr lang="en-AU" sz="1100" dirty="0"/>
              <a:t>Reference: </a:t>
            </a:r>
            <a:r>
              <a:rPr lang="en-AU" sz="1100" dirty="0">
                <a:hlinkClick r:id="rId3"/>
              </a:rPr>
              <a:t>Airbnb first pitch desk</a:t>
            </a:r>
            <a:endParaRPr lang="en-AU" sz="1100" dirty="0"/>
          </a:p>
          <a:p>
            <a:r>
              <a:rPr lang="en-AU" sz="1100" b="1" dirty="0"/>
              <a:t>3. List of MVP Features</a:t>
            </a:r>
          </a:p>
          <a:p>
            <a:pPr lvl="1"/>
            <a:r>
              <a:rPr lang="en-AU" sz="1100" dirty="0"/>
              <a:t>One-page list with concise dot points</a:t>
            </a:r>
          </a:p>
          <a:p>
            <a:pPr lvl="1"/>
            <a:r>
              <a:rPr lang="en-AU" sz="1100" dirty="0"/>
              <a:t>Later adjustments allowed:</a:t>
            </a:r>
          </a:p>
          <a:p>
            <a:pPr lvl="2"/>
            <a:r>
              <a:rPr lang="en-AU" sz="1100" dirty="0"/>
              <a:t>Replace some MVP features -&gt; update tutors.</a:t>
            </a:r>
          </a:p>
          <a:p>
            <a:pPr lvl="2"/>
            <a:r>
              <a:rPr lang="en-AU" sz="1100" dirty="0"/>
              <a:t>Adding “extra” MVP features -&gt; no bonus marks, may lose marks for scope creep.</a:t>
            </a:r>
          </a:p>
          <a:p>
            <a:pPr marL="1016000" lvl="2" indent="0">
              <a:buNone/>
            </a:pPr>
            <a:endParaRPr lang="en-AU" sz="1100" dirty="0"/>
          </a:p>
          <a:p>
            <a:pPr marL="76200" indent="0">
              <a:buNone/>
            </a:pPr>
            <a:r>
              <a:rPr lang="en-AU" sz="1100" b="1" dirty="0"/>
              <a:t>Note: </a:t>
            </a:r>
            <a:r>
              <a:rPr lang="en-AU" sz="1100" dirty="0"/>
              <a:t>I recommend starting your wireframes now. Revisiting your FRs and MVP list after sketching wireframes will help you refine what features are essential and identify gaps early.</a:t>
            </a:r>
          </a:p>
          <a:p>
            <a:pPr marL="76200" indent="0">
              <a:buNone/>
            </a:pPr>
            <a:r>
              <a:rPr lang="en-AU" sz="1100" b="1" dirty="0"/>
              <a:t>Note: </a:t>
            </a:r>
            <a:r>
              <a:rPr lang="en-AU" sz="1100" dirty="0"/>
              <a:t>All team members must attend the Week 5 lab presentation, though only one needs to present. If you cannot attend, you must apply for special consideration under Assignment 1 and notify both the coordinators and tutors.</a:t>
            </a:r>
          </a:p>
        </p:txBody>
      </p:sp>
    </p:spTree>
    <p:extLst>
      <p:ext uri="{BB962C8B-B14F-4D97-AF65-F5344CB8AC3E}">
        <p14:creationId xmlns:p14="http://schemas.microsoft.com/office/powerpoint/2010/main" val="1763303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372307D5-2EB8-32ED-0263-05A4D95F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>
            <a:extLst>
              <a:ext uri="{FF2B5EF4-FFF2-40B4-BE49-F238E27FC236}">
                <a16:creationId xmlns:a16="http://schemas.microsoft.com/office/drawing/2014/main" id="{B04750C7-EA99-0CA1-62FD-0FC73523A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8800" y="1906175"/>
            <a:ext cx="8426400" cy="619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AU" sz="3200" dirty="0"/>
              <a:t>Django Architecture</a:t>
            </a:r>
            <a:endParaRPr sz="3200"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33">
            <a:extLst>
              <a:ext uri="{FF2B5EF4-FFF2-40B4-BE49-F238E27FC236}">
                <a16:creationId xmlns:a16="http://schemas.microsoft.com/office/drawing/2014/main" id="{3C9F4253-A02B-B439-348A-0ACA41F914B2}"/>
              </a:ext>
            </a:extLst>
          </p:cNvPr>
          <p:cNvSpPr txBox="1"/>
          <p:nvPr/>
        </p:nvSpPr>
        <p:spPr>
          <a:xfrm>
            <a:off x="5666825" y="2927725"/>
            <a:ext cx="302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3000836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12B1-4538-6314-7C0D-BE58D84D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367B-1EAE-F6D2-3DEE-1DA087FF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Django Architecture</a:t>
            </a:r>
            <a:br>
              <a:rPr lang="en" dirty="0"/>
            </a:br>
            <a:r>
              <a:rPr lang="en" sz="1600" dirty="0"/>
              <a:t>Django MVT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A27DE6-7DD0-2F30-7304-9455972A55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9344"/>
          <a:stretch>
            <a:fillRect/>
          </a:stretch>
        </p:blipFill>
        <p:spPr>
          <a:xfrm>
            <a:off x="570272" y="945506"/>
            <a:ext cx="8003456" cy="326018"/>
          </a:xfrm>
          <a:prstGeom prst="rect">
            <a:avLst/>
          </a:prstGeom>
        </p:spPr>
      </p:pic>
      <p:pic>
        <p:nvPicPr>
          <p:cNvPr id="8" name="Picture 7" descr="django-overview">
            <a:extLst>
              <a:ext uri="{FF2B5EF4-FFF2-40B4-BE49-F238E27FC236}">
                <a16:creationId xmlns:a16="http://schemas.microsoft.com/office/drawing/2014/main" id="{FB15BC18-4CBA-DDF0-3633-8295D2BF1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4271" y="1633410"/>
            <a:ext cx="5595457" cy="256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2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E3BB0-1261-572F-4F91-48FFCFFB7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C79C-96BC-67C0-D15A-872CABFD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Django Architecture</a:t>
            </a:r>
            <a:br>
              <a:rPr lang="en" dirty="0"/>
            </a:br>
            <a:r>
              <a:rPr lang="en" sz="1600" dirty="0"/>
              <a:t>Project Structure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A7B7DA-56E5-E75E-1B2B-310FF8DA7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419" y="945506"/>
            <a:ext cx="6961161" cy="358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914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7AC07E7E-1748-951F-FFF7-B66DD288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>
            <a:extLst>
              <a:ext uri="{FF2B5EF4-FFF2-40B4-BE49-F238E27FC236}">
                <a16:creationId xmlns:a16="http://schemas.microsoft.com/office/drawing/2014/main" id="{3F8B7051-9B76-7F87-51C4-27B3CA575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8800" y="1906175"/>
            <a:ext cx="8426400" cy="619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AU" sz="3200" dirty="0"/>
              <a:t>AJAX</a:t>
            </a:r>
            <a:endParaRPr sz="3200"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33">
            <a:extLst>
              <a:ext uri="{FF2B5EF4-FFF2-40B4-BE49-F238E27FC236}">
                <a16:creationId xmlns:a16="http://schemas.microsoft.com/office/drawing/2014/main" id="{39AFF58C-31EF-69CB-B638-E843DB73C98C}"/>
              </a:ext>
            </a:extLst>
          </p:cNvPr>
          <p:cNvSpPr txBox="1"/>
          <p:nvPr/>
        </p:nvSpPr>
        <p:spPr>
          <a:xfrm>
            <a:off x="5666825" y="2927725"/>
            <a:ext cx="302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2435726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B67BE-DDA8-6D9F-1BEC-85C198735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FC38-6E70-04CF-96DC-02EC3AED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AJAX</a:t>
            </a:r>
            <a:br>
              <a:rPr lang="en" dirty="0"/>
            </a:br>
            <a:r>
              <a:rPr lang="en-AU" sz="1600" dirty="0"/>
              <a:t>Asynchronous JavaScript and XML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45CBE1-26DF-7BE8-3883-B76049FE7851}"/>
              </a:ext>
            </a:extLst>
          </p:cNvPr>
          <p:cNvSpPr txBox="1"/>
          <p:nvPr/>
        </p:nvSpPr>
        <p:spPr>
          <a:xfrm>
            <a:off x="2143290" y="4570195"/>
            <a:ext cx="4857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hlinkClick r:id="rId3"/>
              </a:rPr>
              <a:t>AJAX vs Full-Page Reload: Load More Demo @</a:t>
            </a:r>
            <a:r>
              <a:rPr lang="en-US" dirty="0" err="1">
                <a:hlinkClick r:id="rId3"/>
              </a:rPr>
              <a:t>jsfiddle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D9C6D36-E938-8EC2-D96A-9248093444F1}"/>
              </a:ext>
            </a:extLst>
          </p:cNvPr>
          <p:cNvGrpSpPr/>
          <p:nvPr/>
        </p:nvGrpSpPr>
        <p:grpSpPr>
          <a:xfrm>
            <a:off x="1145788" y="981880"/>
            <a:ext cx="6852424" cy="3479404"/>
            <a:chOff x="1145788" y="981880"/>
            <a:chExt cx="6852424" cy="3479404"/>
          </a:xfrm>
        </p:grpSpPr>
        <p:pic>
          <p:nvPicPr>
            <p:cNvPr id="6" name="Picture 5">
              <a:hlinkClick r:id="rId3"/>
              <a:extLst>
                <a:ext uri="{FF2B5EF4-FFF2-40B4-BE49-F238E27FC236}">
                  <a16:creationId xmlns:a16="http://schemas.microsoft.com/office/drawing/2014/main" id="{5ABA8FE2-1E4C-78E1-B76F-65A8ACE7E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45788" y="981880"/>
              <a:ext cx="6852424" cy="3479404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BBCC4B6-DE15-A922-0801-69CC5982AE03}"/>
                </a:ext>
              </a:extLst>
            </p:cNvPr>
            <p:cNvSpPr/>
            <p:nvPr/>
          </p:nvSpPr>
          <p:spPr>
            <a:xfrm>
              <a:off x="3852000" y="2001582"/>
              <a:ext cx="1440000" cy="1440000"/>
            </a:xfrm>
            <a:prstGeom prst="ellipse">
              <a:avLst/>
            </a:prstGeom>
            <a:solidFill>
              <a:schemeClr val="bg1">
                <a:lumMod val="75000"/>
                <a:alpha val="6983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Play with solid fill">
              <a:hlinkClick r:id="rId3"/>
              <a:extLst>
                <a:ext uri="{FF2B5EF4-FFF2-40B4-BE49-F238E27FC236}">
                  <a16:creationId xmlns:a16="http://schemas.microsoft.com/office/drawing/2014/main" id="{59E1318F-FFF9-AB68-4E2B-884C09B381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04010" y="226438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635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BCE0-D562-E8F2-00FF-4628C1534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84C93-68DE-2762-4D55-19EEC1FBBDCF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AJAX</a:t>
            </a:r>
            <a:br>
              <a:rPr lang="en" dirty="0"/>
            </a:br>
            <a:r>
              <a:rPr lang="en-AU" sz="1600" dirty="0"/>
              <a:t>How AJAX works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DC4A1-6987-506B-33FD-139C1B59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5506"/>
            <a:ext cx="5450045" cy="3676242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89EE0F23-E90C-A2C7-0BDB-9441B1FD05F4}"/>
              </a:ext>
            </a:extLst>
          </p:cNvPr>
          <p:cNvGrpSpPr>
            <a:grpSpLocks/>
          </p:cNvGrpSpPr>
          <p:nvPr/>
        </p:nvGrpSpPr>
        <p:grpSpPr>
          <a:xfrm>
            <a:off x="823134" y="1091100"/>
            <a:ext cx="7931815" cy="614239"/>
            <a:chOff x="823134" y="1091100"/>
            <a:chExt cx="7931815" cy="61423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A32EC8-C2DF-B4C5-FEDE-2528BAF0863A}"/>
                </a:ext>
              </a:extLst>
            </p:cNvPr>
            <p:cNvSpPr txBox="1">
              <a:spLocks/>
            </p:cNvSpPr>
            <p:nvPr/>
          </p:nvSpPr>
          <p:spPr>
            <a:xfrm>
              <a:off x="6273179" y="1091100"/>
              <a:ext cx="24817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1. No normal form navigation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F81E458-7E8B-AFB7-D315-E383BC2C40C1}"/>
                </a:ext>
              </a:extLst>
            </p:cNvPr>
            <p:cNvCxnSpPr>
              <a:cxnSpLocks/>
              <a:stCxn id="24" idx="3"/>
              <a:endCxn id="5" idx="1"/>
            </p:cNvCxnSpPr>
            <p:nvPr/>
          </p:nvCxnSpPr>
          <p:spPr>
            <a:xfrm flipV="1">
              <a:off x="2066693" y="1244989"/>
              <a:ext cx="4206486" cy="37224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72EE7-AB95-FA95-A2BE-986B38962C1C}"/>
                </a:ext>
              </a:extLst>
            </p:cNvPr>
            <p:cNvSpPr>
              <a:spLocks/>
            </p:cNvSpPr>
            <p:nvPr/>
          </p:nvSpPr>
          <p:spPr>
            <a:xfrm>
              <a:off x="823134" y="1529129"/>
              <a:ext cx="1243559" cy="1762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DFBEC7F-7C31-5283-B11A-0E2F353753C5}"/>
              </a:ext>
            </a:extLst>
          </p:cNvPr>
          <p:cNvGrpSpPr/>
          <p:nvPr/>
        </p:nvGrpSpPr>
        <p:grpSpPr>
          <a:xfrm>
            <a:off x="823134" y="1697517"/>
            <a:ext cx="7574346" cy="591445"/>
            <a:chOff x="823134" y="1697517"/>
            <a:chExt cx="7574346" cy="59144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2B87244-6254-7D1E-654B-8EBD4435F571}"/>
                </a:ext>
              </a:extLst>
            </p:cNvPr>
            <p:cNvSpPr txBox="1">
              <a:spLocks/>
            </p:cNvSpPr>
            <p:nvPr/>
          </p:nvSpPr>
          <p:spPr>
            <a:xfrm>
              <a:off x="6412641" y="1697517"/>
              <a:ext cx="1984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2. Background request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29CBF3A-8A2B-AA4E-2DF7-9D12EC756954}"/>
                </a:ext>
              </a:extLst>
            </p:cNvPr>
            <p:cNvCxnSpPr>
              <a:cxnSpLocks/>
              <a:stCxn id="26" idx="3"/>
              <a:endCxn id="6" idx="1"/>
            </p:cNvCxnSpPr>
            <p:nvPr/>
          </p:nvCxnSpPr>
          <p:spPr>
            <a:xfrm flipV="1">
              <a:off x="2595740" y="1851406"/>
              <a:ext cx="3816901" cy="35940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70AC735-C69D-D49D-D4FA-CB70F6F02B1A}"/>
                </a:ext>
              </a:extLst>
            </p:cNvPr>
            <p:cNvSpPr>
              <a:spLocks/>
            </p:cNvSpPr>
            <p:nvPr/>
          </p:nvSpPr>
          <p:spPr>
            <a:xfrm>
              <a:off x="823134" y="2132650"/>
              <a:ext cx="1772606" cy="1563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371B299-1A77-E4E9-8302-D132DDB1F700}"/>
              </a:ext>
            </a:extLst>
          </p:cNvPr>
          <p:cNvGrpSpPr/>
          <p:nvPr/>
        </p:nvGrpSpPr>
        <p:grpSpPr>
          <a:xfrm>
            <a:off x="960666" y="2253943"/>
            <a:ext cx="7717594" cy="550435"/>
            <a:chOff x="960666" y="2253943"/>
            <a:chExt cx="7717594" cy="55043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E2256D-B104-8783-557C-BAF451F7D7BD}"/>
                </a:ext>
              </a:extLst>
            </p:cNvPr>
            <p:cNvSpPr txBox="1">
              <a:spLocks/>
            </p:cNvSpPr>
            <p:nvPr/>
          </p:nvSpPr>
          <p:spPr>
            <a:xfrm>
              <a:off x="6204506" y="2253943"/>
              <a:ext cx="24737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3.1 Request data</a:t>
              </a:r>
              <a:br>
                <a:rPr lang="en-US" dirty="0">
                  <a:solidFill>
                    <a:srgbClr val="FF0000"/>
                  </a:solidFill>
                </a:rPr>
              </a:br>
              <a:r>
                <a:rPr lang="en-US" dirty="0">
                  <a:solidFill>
                    <a:srgbClr val="FF0000"/>
                  </a:solidFill>
                </a:rPr>
                <a:t>3.2 Django CSRF protection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584BD5-11C8-4731-63D5-A361835D9C80}"/>
                </a:ext>
              </a:extLst>
            </p:cNvPr>
            <p:cNvSpPr>
              <a:spLocks/>
            </p:cNvSpPr>
            <p:nvPr/>
          </p:nvSpPr>
          <p:spPr>
            <a:xfrm>
              <a:off x="960666" y="2396478"/>
              <a:ext cx="1039119" cy="4079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C397E72-39F0-861D-19CF-E36632EA84AC}"/>
                </a:ext>
              </a:extLst>
            </p:cNvPr>
            <p:cNvCxnSpPr>
              <a:cxnSpLocks/>
              <a:stCxn id="29" idx="3"/>
              <a:endCxn id="7" idx="1"/>
            </p:cNvCxnSpPr>
            <p:nvPr/>
          </p:nvCxnSpPr>
          <p:spPr>
            <a:xfrm flipV="1">
              <a:off x="1999785" y="2515553"/>
              <a:ext cx="4204721" cy="8487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EFDCD3A-612E-9A44-A387-A9A7A7BE59AD}"/>
              </a:ext>
            </a:extLst>
          </p:cNvPr>
          <p:cNvGrpSpPr/>
          <p:nvPr/>
        </p:nvGrpSpPr>
        <p:grpSpPr>
          <a:xfrm>
            <a:off x="823134" y="2993525"/>
            <a:ext cx="7434884" cy="307777"/>
            <a:chOff x="823134" y="2993525"/>
            <a:chExt cx="7434884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C236CF-48E3-5626-94AD-1CD9B7E5C78F}"/>
                </a:ext>
              </a:extLst>
            </p:cNvPr>
            <p:cNvSpPr txBox="1">
              <a:spLocks/>
            </p:cNvSpPr>
            <p:nvPr/>
          </p:nvSpPr>
          <p:spPr>
            <a:xfrm>
              <a:off x="6412641" y="2993525"/>
              <a:ext cx="18453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4. Read server result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688177B-6021-B91F-EF05-AD6186F9EDE6}"/>
                </a:ext>
              </a:extLst>
            </p:cNvPr>
            <p:cNvSpPr>
              <a:spLocks/>
            </p:cNvSpPr>
            <p:nvPr/>
          </p:nvSpPr>
          <p:spPr>
            <a:xfrm>
              <a:off x="823134" y="2993525"/>
              <a:ext cx="1772606" cy="2698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09A10D1-7F5F-BDB3-A7EB-242819D1D024}"/>
                </a:ext>
              </a:extLst>
            </p:cNvPr>
            <p:cNvCxnSpPr>
              <a:cxnSpLocks/>
              <a:stCxn id="36" idx="3"/>
              <a:endCxn id="9" idx="1"/>
            </p:cNvCxnSpPr>
            <p:nvPr/>
          </p:nvCxnSpPr>
          <p:spPr>
            <a:xfrm>
              <a:off x="2595740" y="3128457"/>
              <a:ext cx="3816901" cy="1895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11A0EF4-361C-9FE9-39D9-C8D0DE0AA728}"/>
              </a:ext>
            </a:extLst>
          </p:cNvPr>
          <p:cNvGrpSpPr/>
          <p:nvPr/>
        </p:nvGrpSpPr>
        <p:grpSpPr>
          <a:xfrm>
            <a:off x="1180390" y="3479785"/>
            <a:ext cx="6829430" cy="581823"/>
            <a:chOff x="1180390" y="3479785"/>
            <a:chExt cx="6829430" cy="58182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5935705-41B0-F82C-D8EC-814D2B581B7F}"/>
                </a:ext>
              </a:extLst>
            </p:cNvPr>
            <p:cNvSpPr txBox="1">
              <a:spLocks/>
            </p:cNvSpPr>
            <p:nvPr/>
          </p:nvSpPr>
          <p:spPr>
            <a:xfrm>
              <a:off x="6283065" y="3753831"/>
              <a:ext cx="17267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5. Update the DOM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DB48796-7DBD-02EA-4A72-852FE4BC13D1}"/>
                </a:ext>
              </a:extLst>
            </p:cNvPr>
            <p:cNvSpPr>
              <a:spLocks/>
            </p:cNvSpPr>
            <p:nvPr/>
          </p:nvSpPr>
          <p:spPr>
            <a:xfrm>
              <a:off x="1180390" y="3479785"/>
              <a:ext cx="1072156" cy="1767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079ECB7-798F-57BD-6769-E0CFD3A48BC5}"/>
                </a:ext>
              </a:extLst>
            </p:cNvPr>
            <p:cNvCxnSpPr>
              <a:cxnSpLocks/>
              <a:stCxn id="43" idx="3"/>
              <a:endCxn id="10" idx="1"/>
            </p:cNvCxnSpPr>
            <p:nvPr/>
          </p:nvCxnSpPr>
          <p:spPr>
            <a:xfrm>
              <a:off x="2252546" y="3568136"/>
              <a:ext cx="4030519" cy="33958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921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0E0A3-A266-06BD-E67C-8B383967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CBE2D-6E1F-F3CA-7622-9469C0CF1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AJAX</a:t>
            </a:r>
            <a:br>
              <a:rPr lang="en" dirty="0"/>
            </a:br>
            <a:r>
              <a:rPr lang="en-AU" sz="1600" dirty="0"/>
              <a:t>Modern Frontend</a:t>
            </a:r>
            <a:endParaRPr lang="en-US" dirty="0"/>
          </a:p>
        </p:txBody>
      </p:sp>
      <p:pic>
        <p:nvPicPr>
          <p:cNvPr id="3" name="Picture 2" descr="Fetching Data in React: Fetch vs Axios Best Practices">
            <a:extLst>
              <a:ext uri="{FF2B5EF4-FFF2-40B4-BE49-F238E27FC236}">
                <a16:creationId xmlns:a16="http://schemas.microsoft.com/office/drawing/2014/main" id="{CD5DBE58-9E2E-79A4-AA5A-1FFB9CD07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751" y="860446"/>
            <a:ext cx="6356498" cy="35478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53400-2B43-4CF5-D0BA-CEB78D729783}"/>
              </a:ext>
            </a:extLst>
          </p:cNvPr>
          <p:cNvSpPr txBox="1"/>
          <p:nvPr/>
        </p:nvSpPr>
        <p:spPr>
          <a:xfrm>
            <a:off x="1594883" y="4408259"/>
            <a:ext cx="6250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dirty="0">
                <a:hlinkClick r:id="rId4"/>
              </a:rPr>
              <a:t>Thinking in React @React</a:t>
            </a:r>
            <a:endParaRPr lang="en-US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dirty="0">
                <a:hlinkClick r:id="rId5"/>
              </a:rPr>
              <a:t>Fetching Data in React: Fetch vs Axios Best Practices @</a:t>
            </a:r>
            <a:r>
              <a:rPr lang="en-US" dirty="0" err="1">
                <a:hlinkClick r:id="rId5"/>
              </a:rPr>
              <a:t>unwiredlearning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082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D3D7EB7F-94C2-C328-5EDE-C62C2F51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>
            <a:extLst>
              <a:ext uri="{FF2B5EF4-FFF2-40B4-BE49-F238E27FC236}">
                <a16:creationId xmlns:a16="http://schemas.microsoft.com/office/drawing/2014/main" id="{B0659CB5-0A21-7ED4-8CA7-E6ABA96F4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8800" y="1906175"/>
            <a:ext cx="8426400" cy="619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AU" sz="3200" dirty="0"/>
              <a:t>Database Selection</a:t>
            </a:r>
            <a:endParaRPr sz="3200"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33">
            <a:extLst>
              <a:ext uri="{FF2B5EF4-FFF2-40B4-BE49-F238E27FC236}">
                <a16:creationId xmlns:a16="http://schemas.microsoft.com/office/drawing/2014/main" id="{B1F7F898-D5B3-AC8C-CC81-7429FB9D61EC}"/>
              </a:ext>
            </a:extLst>
          </p:cNvPr>
          <p:cNvSpPr txBox="1"/>
          <p:nvPr/>
        </p:nvSpPr>
        <p:spPr>
          <a:xfrm>
            <a:off x="5666825" y="2927725"/>
            <a:ext cx="302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3741729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60413-7E41-ACB3-EFBA-EC6384E9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Database Selection</a:t>
            </a:r>
            <a:br>
              <a:rPr lang="en" dirty="0"/>
            </a:br>
            <a:r>
              <a:rPr lang="en" sz="1600" dirty="0"/>
              <a:t>For Assignments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B5F2EBD-58D8-0918-101E-4AA8A92BB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093" y="889847"/>
            <a:ext cx="7541813" cy="3857082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US" sz="1100" b="1" dirty="0"/>
              <a:t>1. Database Choice</a:t>
            </a:r>
          </a:p>
          <a:p>
            <a:pPr marL="76200" indent="0">
              <a:buNone/>
            </a:pPr>
            <a:r>
              <a:rPr lang="en-AU" sz="1100" dirty="0"/>
              <a:t>You may use any database of your choice (SQL or NoSQL).</a:t>
            </a:r>
          </a:p>
          <a:p>
            <a:pPr marL="76200" indent="0">
              <a:buNone/>
            </a:pPr>
            <a:r>
              <a:rPr lang="en-AU" sz="1100" b="1" dirty="0"/>
              <a:t>Note:</a:t>
            </a:r>
            <a:r>
              <a:rPr lang="en-AU" sz="1100" dirty="0"/>
              <a:t> Django ORM natively supports relational databases (SQLite, MySQL, PostgreSQL).</a:t>
            </a:r>
          </a:p>
          <a:p>
            <a:r>
              <a:rPr lang="en-AU" sz="1100" dirty="0"/>
              <a:t>There are third-party libraries for NoSQL (e.g., MongoDB), but check their stability before committing.</a:t>
            </a:r>
          </a:p>
          <a:p>
            <a:r>
              <a:rPr lang="en-AU" sz="1100" dirty="0"/>
              <a:t>Recommendation: read this week’s tutorial + complete </a:t>
            </a:r>
            <a:r>
              <a:rPr lang="en-AU" sz="1100" b="1" dirty="0"/>
              <a:t>Individual Task 4</a:t>
            </a:r>
            <a:r>
              <a:rPr lang="en-AU" sz="1100" dirty="0"/>
              <a:t> → play with Django ORM, then decide your DB.</a:t>
            </a:r>
            <a:br>
              <a:rPr lang="en-AU" sz="1100" dirty="0"/>
            </a:br>
            <a:endParaRPr lang="en-AU" sz="1100" dirty="0"/>
          </a:p>
          <a:p>
            <a:pPr marL="76200" indent="0">
              <a:buNone/>
            </a:pPr>
            <a:r>
              <a:rPr lang="en-AU" sz="1100" b="1" dirty="0"/>
              <a:t>2. Database Hosting</a:t>
            </a:r>
          </a:p>
          <a:p>
            <a:r>
              <a:rPr lang="en-AU" sz="1100" dirty="0"/>
              <a:t>You may host your database on another server outside AWS Learner Lab.</a:t>
            </a:r>
          </a:p>
          <a:p>
            <a:r>
              <a:rPr lang="en-AU" sz="1100" b="1" dirty="0"/>
              <a:t>However, frontend and backend must be deployed on AWS Learner Lab using Nginx + </a:t>
            </a:r>
            <a:r>
              <a:rPr lang="en-AU" sz="1100" b="1" dirty="0" err="1"/>
              <a:t>uWSGI</a:t>
            </a:r>
            <a:r>
              <a:rPr lang="en-AU" sz="1100" b="1" dirty="0"/>
              <a:t>.</a:t>
            </a:r>
            <a:endParaRPr lang="en-AU" sz="1100" dirty="0"/>
          </a:p>
          <a:p>
            <a:r>
              <a:rPr lang="en-AU" sz="1100" dirty="0"/>
              <a:t>Your backend can still connect to an external DB without issues.</a:t>
            </a:r>
          </a:p>
          <a:p>
            <a:pPr marL="76200" indent="0">
              <a:buNone/>
            </a:pPr>
            <a:endParaRPr lang="en-AU" sz="1100" dirty="0"/>
          </a:p>
          <a:p>
            <a:pPr marL="76200" indent="0">
              <a:buNone/>
            </a:pPr>
            <a:r>
              <a:rPr lang="en-AU" sz="1100" b="1" dirty="0"/>
              <a:t>3. Additional Notes on Remote DBs</a:t>
            </a:r>
            <a:endParaRPr lang="en-AU" sz="1100" dirty="0"/>
          </a:p>
          <a:p>
            <a:pPr marL="76200" indent="0">
              <a:buNone/>
            </a:pPr>
            <a:r>
              <a:rPr lang="en-AU" sz="1100" b="1" dirty="0"/>
              <a:t>For A2 (local testing):</a:t>
            </a:r>
            <a:r>
              <a:rPr lang="en-AU" sz="1100" dirty="0"/>
              <a:t> Tutors test your web app locally and need DB access.</a:t>
            </a:r>
          </a:p>
          <a:p>
            <a:r>
              <a:rPr lang="en-AU" sz="1100" dirty="0"/>
              <a:t>Provide full credentials to your remote DB, </a:t>
            </a:r>
            <a:r>
              <a:rPr lang="en-AU" sz="1100" b="1" dirty="0"/>
              <a:t>or</a:t>
            </a:r>
            <a:endParaRPr lang="en-AU" sz="1100" dirty="0"/>
          </a:p>
          <a:p>
            <a:r>
              <a:rPr lang="en-AU" sz="1100" dirty="0"/>
              <a:t>Provide an SQL dump + clear re-creation instructions.</a:t>
            </a:r>
          </a:p>
          <a:p>
            <a:r>
              <a:rPr lang="en-AU" sz="1100" dirty="0"/>
              <a:t>If tutors cannot access or create your DB locally → it may affect marks.</a:t>
            </a:r>
          </a:p>
          <a:p>
            <a:pPr marL="76200" indent="0">
              <a:buNone/>
            </a:pPr>
            <a:r>
              <a:rPr lang="en-AU" sz="1100" b="1" dirty="0"/>
              <a:t>For A3 (deployment):</a:t>
            </a:r>
            <a:r>
              <a:rPr lang="en-AU" sz="1100" dirty="0"/>
              <a:t> Database may be hosted anywhere, but your AWS EC2 instance must allow terminal-based DB access (e.g., </a:t>
            </a:r>
            <a:r>
              <a:rPr lang="en-AU" sz="1100" dirty="0" err="1"/>
              <a:t>Supabase</a:t>
            </a:r>
            <a:r>
              <a:rPr lang="en-AU" sz="1100" dirty="0"/>
              <a:t> CLI, MongoDB shell). Tutors may need to query or modify your DB during marking.</a:t>
            </a:r>
          </a:p>
        </p:txBody>
      </p:sp>
    </p:spTree>
    <p:extLst>
      <p:ext uri="{BB962C8B-B14F-4D97-AF65-F5344CB8AC3E}">
        <p14:creationId xmlns:p14="http://schemas.microsoft.com/office/powerpoint/2010/main" val="2692107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C90465DE-C913-CE91-2986-ED5DC4AA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>
            <a:extLst>
              <a:ext uri="{FF2B5EF4-FFF2-40B4-BE49-F238E27FC236}">
                <a16:creationId xmlns:a16="http://schemas.microsoft.com/office/drawing/2014/main" id="{807BE238-C559-09FD-88C6-B5D15C6ED5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8800" y="1906175"/>
            <a:ext cx="8426400" cy="619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AU" sz="3200" dirty="0"/>
              <a:t>Two Scoops of Django 3.x</a:t>
            </a:r>
            <a:endParaRPr sz="3200"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33">
            <a:extLst>
              <a:ext uri="{FF2B5EF4-FFF2-40B4-BE49-F238E27FC236}">
                <a16:creationId xmlns:a16="http://schemas.microsoft.com/office/drawing/2014/main" id="{34AFB01F-55E0-4585-6283-DE5CF7BCC403}"/>
              </a:ext>
            </a:extLst>
          </p:cNvPr>
          <p:cNvSpPr txBox="1"/>
          <p:nvPr/>
        </p:nvSpPr>
        <p:spPr>
          <a:xfrm>
            <a:off x="5666825" y="2927725"/>
            <a:ext cx="302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61129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FD121-1F8A-374E-D5FC-12D7BE65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2439-2F4E-2AFB-F164-73CCEDD3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Two Scoops of Django 3.x</a:t>
            </a:r>
            <a:br>
              <a:rPr lang="en" dirty="0"/>
            </a:br>
            <a:r>
              <a:rPr lang="en" sz="1600" dirty="0"/>
              <a:t>Best Practices for the Django Web Framework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A36A541-BF37-2DDC-63D7-BD4FC0A92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7593" y="1255459"/>
            <a:ext cx="5908814" cy="2632581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AU" sz="1200" b="1" dirty="0"/>
              <a:t>Greenfeld, D., &amp; Roy Greenfeld, A. (2020). Two Scoops of Django 3.x: Best Practices for the Django Web Framework.</a:t>
            </a:r>
            <a:endParaRPr lang="en-AU" sz="1200" dirty="0"/>
          </a:p>
          <a:p>
            <a:pPr marL="76200" indent="0">
              <a:buNone/>
            </a:pPr>
            <a:endParaRPr lang="en-AU" sz="1200" dirty="0"/>
          </a:p>
          <a:p>
            <a:pPr marL="76200" indent="0">
              <a:buNone/>
            </a:pPr>
            <a:r>
              <a:rPr lang="en-AU" sz="1200" dirty="0"/>
              <a:t>The book, while focused on Django 3, offers practical design ideas and best practices for structuring and optimising Django projects. </a:t>
            </a:r>
          </a:p>
          <a:p>
            <a:pPr marL="76200" indent="0">
              <a:buNone/>
            </a:pPr>
            <a:endParaRPr lang="en-AU" sz="1200" dirty="0"/>
          </a:p>
          <a:p>
            <a:pPr marL="76200" indent="0">
              <a:buNone/>
            </a:pPr>
            <a:r>
              <a:rPr lang="en-AU" sz="1200" dirty="0"/>
              <a:t>Read following chapters if you are not familiar with Python or Django project:</a:t>
            </a:r>
          </a:p>
          <a:p>
            <a:r>
              <a:rPr lang="en-AU" sz="1200" dirty="0"/>
              <a:t>Chapter 1: Coding Style</a:t>
            </a:r>
          </a:p>
          <a:p>
            <a:r>
              <a:rPr lang="en-AU" sz="1200" dirty="0"/>
              <a:t>Chapter 2: The optimal Django Environment Setup</a:t>
            </a:r>
          </a:p>
          <a:p>
            <a:r>
              <a:rPr lang="en-AU" sz="1200" dirty="0"/>
              <a:t>Chapter 3: How to Lay Out Django Projects</a:t>
            </a:r>
          </a:p>
          <a:p>
            <a:r>
              <a:rPr lang="en-AU" sz="1200" dirty="0"/>
              <a:t>Chapter 5: Settings and Requirements Files</a:t>
            </a:r>
          </a:p>
        </p:txBody>
      </p:sp>
    </p:spTree>
    <p:extLst>
      <p:ext uri="{BB962C8B-B14F-4D97-AF65-F5344CB8AC3E}">
        <p14:creationId xmlns:p14="http://schemas.microsoft.com/office/powerpoint/2010/main" val="392494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3"/>
          <p:cNvSpPr txBox="1">
            <a:spLocks noGrp="1"/>
          </p:cNvSpPr>
          <p:nvPr>
            <p:ph type="title"/>
          </p:nvPr>
        </p:nvSpPr>
        <p:spPr>
          <a:xfrm>
            <a:off x="396884" y="353117"/>
            <a:ext cx="3948900" cy="57742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Today’s Task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5CBF6-B120-F8A6-F436-3AC2AA27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954" y="1143746"/>
            <a:ext cx="4188408" cy="2078170"/>
          </a:xfrm>
        </p:spPr>
        <p:txBody>
          <a:bodyPr/>
          <a:lstStyle/>
          <a:p>
            <a:pPr marL="571500" indent="-342900">
              <a:buAutoNum type="arabicPeriod"/>
            </a:pPr>
            <a:r>
              <a:rPr lang="en-US" sz="1200" dirty="0"/>
              <a:t>Read Lab 04 &amp; complete Individual Task 4</a:t>
            </a:r>
          </a:p>
          <a:p>
            <a:pPr marL="571500" indent="-342900">
              <a:buFont typeface="Merriweather Sans"/>
              <a:buAutoNum type="arabicPeriod"/>
            </a:pPr>
            <a:r>
              <a:rPr lang="en-US" sz="1200" dirty="0"/>
              <a:t>Individual Task 4 is due in Week 6 Wednesday</a:t>
            </a:r>
          </a:p>
          <a:p>
            <a:pPr marL="571500" indent="-342900">
              <a:buAutoNum type="arabicPeriod"/>
            </a:pPr>
            <a:r>
              <a:rPr lang="en-US" sz="1200" dirty="0"/>
              <a:t>Discuss your project idea and MVP with tutors</a:t>
            </a:r>
          </a:p>
          <a:p>
            <a:pPr marL="571500" indent="-342900">
              <a:buAutoNum type="arabicPeriod"/>
            </a:pPr>
            <a:r>
              <a:rPr lang="en-US" sz="1200" dirty="0"/>
              <a:t>Make some wireframes and revisit your FRs</a:t>
            </a:r>
          </a:p>
          <a:p>
            <a:pPr marL="571500" indent="-342900">
              <a:buAutoNum type="arabicPeriod"/>
            </a:pPr>
            <a:r>
              <a:rPr lang="en-US" sz="1200" dirty="0"/>
              <a:t>Tutors will mark your Individual Task 3 in person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-template-standard_August15">
  <a:themeElements>
    <a:clrScheme name="The University of Sydney_Color Theme">
      <a:dk1>
        <a:srgbClr val="000000"/>
      </a:dk1>
      <a:lt1>
        <a:srgbClr val="FFFFFF"/>
      </a:lt1>
      <a:dk2>
        <a:srgbClr val="0148A4"/>
      </a:dk2>
      <a:lt2>
        <a:srgbClr val="EEECE1"/>
      </a:lt2>
      <a:accent1>
        <a:srgbClr val="E64626"/>
      </a:accent1>
      <a:accent2>
        <a:srgbClr val="EF8025"/>
      </a:accent2>
      <a:accent3>
        <a:srgbClr val="FFB800"/>
      </a:accent3>
      <a:accent4>
        <a:srgbClr val="5C923E"/>
      </a:accent4>
      <a:accent5>
        <a:srgbClr val="5496DB"/>
      </a:accent5>
      <a:accent6>
        <a:srgbClr val="0148A4"/>
      </a:accent6>
      <a:hlink>
        <a:srgbClr val="E64626"/>
      </a:hlink>
      <a:folHlink>
        <a:srgbClr val="F051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4690</TotalTime>
  <Words>772</Words>
  <Application>Microsoft Macintosh PowerPoint</Application>
  <PresentationFormat>On-screen Show (16:9)</PresentationFormat>
  <Paragraphs>79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Merriweather Sans</vt:lpstr>
      <vt:lpstr>Twentieth Century</vt:lpstr>
      <vt:lpstr>Wingdings</vt:lpstr>
      <vt:lpstr>Arial</vt:lpstr>
      <vt:lpstr>PPT-template-standard_August15</vt:lpstr>
      <vt:lpstr>ELEC3609/9609 Week 4 Lab Guide</vt:lpstr>
      <vt:lpstr>PowerPoint Presentation</vt:lpstr>
      <vt:lpstr>Assignment 1 Milestone Reminder</vt:lpstr>
      <vt:lpstr>PowerPoint Presentation</vt:lpstr>
      <vt:lpstr>Django Architecture Django MVT</vt:lpstr>
      <vt:lpstr>Django Architecture Project Structure</vt:lpstr>
      <vt:lpstr>PowerPoint Presentation</vt:lpstr>
      <vt:lpstr>AJAX Asynchronous JavaScript and XML</vt:lpstr>
      <vt:lpstr>AJAX How AJAX works</vt:lpstr>
      <vt:lpstr>AJAX Modern Frontend</vt:lpstr>
      <vt:lpstr>PowerPoint Presentation</vt:lpstr>
      <vt:lpstr>Database Selection For Assignments</vt:lpstr>
      <vt:lpstr>PowerPoint Presentation</vt:lpstr>
      <vt:lpstr>Two Scoops of Django 3.x Best Practices for the Django Web Framework</vt:lpstr>
      <vt:lpstr>Today’s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Jiawen Wen</cp:lastModifiedBy>
  <cp:revision>56</cp:revision>
  <dcterms:modified xsi:type="dcterms:W3CDTF">2026-08-26T15:45:16Z</dcterms:modified>
</cp:coreProperties>
</file>